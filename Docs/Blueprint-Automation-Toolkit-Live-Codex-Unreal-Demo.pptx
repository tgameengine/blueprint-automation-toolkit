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4c1c288d3475e" /><Relationship Type="http://schemas.openxmlformats.org/officeDocument/2006/relationships/extended-properties" Target="/docProps/app.xml" Id="Rae2f3c18295a409a" /><Relationship Type="http://schemas.openxmlformats.org/officeDocument/2006/relationships/officeDocument" Target="/ppt/presentation.xml" Id="R2b69ca1053774e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f605fc436e4d67"/>
  </p:sldMasterIdLst>
  <p:notesMasterIdLst>
    <p:notesMasterId xmlns:r="http://schemas.openxmlformats.org/officeDocument/2006/relationships" r:id="R5f62efc3e96a4ffe"/>
  </p:notesMasterIdLst>
  <p:sldIdLst>
    <p:sldId xmlns:r="http://schemas.openxmlformats.org/officeDocument/2006/relationships" id="256" r:id="R3d34c0a484bd4ad3"/>
    <p:sldId xmlns:r="http://schemas.openxmlformats.org/officeDocument/2006/relationships" id="257" r:id="R7024c6d1542c46d7"/>
    <p:sldId xmlns:r="http://schemas.openxmlformats.org/officeDocument/2006/relationships" id="258" r:id="R9b60d3a109454266"/>
    <p:sldId xmlns:r="http://schemas.openxmlformats.org/officeDocument/2006/relationships" id="259" r:id="R12f9211ab6644d50"/>
    <p:sldId xmlns:r="http://schemas.openxmlformats.org/officeDocument/2006/relationships" id="260" r:id="R2f7ef501a366438a"/>
    <p:sldId xmlns:r="http://schemas.openxmlformats.org/officeDocument/2006/relationships" id="261" r:id="R0b843ac8ff9848a4"/>
    <p:sldId xmlns:r="http://schemas.openxmlformats.org/officeDocument/2006/relationships" id="262" r:id="Rbb2c07c46c0f4a54"/>
    <p:sldId xmlns:r="http://schemas.openxmlformats.org/officeDocument/2006/relationships" id="263" r:id="Rbc62bad945a149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ab9e10cc5b427f" /><Relationship Type="http://schemas.openxmlformats.org/officeDocument/2006/relationships/slideMaster" Target="/ppt/slideMasters/slideMaster1.xml" Id="R3cf605fc436e4d67" /><Relationship Type="http://schemas.openxmlformats.org/officeDocument/2006/relationships/notesMaster" Target="/ppt/notesMasters/notesMaster1.xml" Id="R5f62efc3e96a4ffe" /><Relationship Type="http://schemas.openxmlformats.org/officeDocument/2006/relationships/presProps" Target="/ppt/presProps.xml" Id="R85001c2668654cb0" /><Relationship Type="http://schemas.openxmlformats.org/officeDocument/2006/relationships/tableStyles" Target="/ppt/tableStyles.xml" Id="R8feeb791e8ed48a2" /><Relationship Type="http://schemas.openxmlformats.org/officeDocument/2006/relationships/slide" Target="/ppt/slides/slide1.xml" Id="R3d34c0a484bd4ad3" /><Relationship Type="http://schemas.openxmlformats.org/officeDocument/2006/relationships/slide" Target="/ppt/slides/slide2.xml" Id="R7024c6d1542c46d7" /><Relationship Type="http://schemas.openxmlformats.org/officeDocument/2006/relationships/slide" Target="/ppt/slides/slide3.xml" Id="R9b60d3a109454266" /><Relationship Type="http://schemas.openxmlformats.org/officeDocument/2006/relationships/slide" Target="/ppt/slides/slide4.xml" Id="R12f9211ab6644d50" /><Relationship Type="http://schemas.openxmlformats.org/officeDocument/2006/relationships/slide" Target="/ppt/slides/slide5.xml" Id="R2f7ef501a366438a" /><Relationship Type="http://schemas.openxmlformats.org/officeDocument/2006/relationships/slide" Target="/ppt/slides/slide6.xml" Id="R0b843ac8ff9848a4" /><Relationship Type="http://schemas.openxmlformats.org/officeDocument/2006/relationships/slide" Target="/ppt/slides/slide7.xml" Id="Rbb2c07c46c0f4a54" /><Relationship Type="http://schemas.openxmlformats.org/officeDocument/2006/relationships/slide" Target="/ppt/slides/slide8.xml" Id="Rbc62bad945a149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576c8745a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ce3fc0a4164847" /><Relationship Type="http://schemas.openxmlformats.org/officeDocument/2006/relationships/notesMaster" Target="/ppt/notesMasters/notesMaster1.xml" Id="Rb8df9955d4fd40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c2c707804d4b7d" /><Relationship Type="http://schemas.openxmlformats.org/officeDocument/2006/relationships/notesMaster" Target="/ppt/notesMasters/notesMaster1.xml" Id="R7708839db6f44e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687ffc5b440ea" /><Relationship Type="http://schemas.openxmlformats.org/officeDocument/2006/relationships/notesMaster" Target="/ppt/notesMasters/notesMaster1.xml" Id="Rc7829cc08103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07d9ecafcb409c" /><Relationship Type="http://schemas.openxmlformats.org/officeDocument/2006/relationships/notesMaster" Target="/ppt/notesMasters/notesMaster1.xml" Id="R6e87d4b6baf64e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b9a75704224693" /><Relationship Type="http://schemas.openxmlformats.org/officeDocument/2006/relationships/notesMaster" Target="/ppt/notesMasters/notesMaster1.xml" Id="R92c3d67de88c40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81f476b92d49b7" /><Relationship Type="http://schemas.openxmlformats.org/officeDocument/2006/relationships/notesMaster" Target="/ppt/notesMasters/notesMaster1.xml" Id="Rf8a05369bb814a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24b4e2dd8540c1" /><Relationship Type="http://schemas.openxmlformats.org/officeDocument/2006/relationships/notesMaster" Target="/ppt/notesMasters/notesMaster1.xml" Id="R77cac9b6e5ff43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2cec8eab1145c1" /><Relationship Type="http://schemas.openxmlformats.org/officeDocument/2006/relationships/notesMaster" Target="/ppt/notesMasters/notesMaster1.xml" Id="R43264f120ea446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BAT BlueprintAutomationToolkit.uplugin — version, module type, platform and target allow lists.</a:t>
            </a:r>
          </a:p>
          <a:p xmlns:a="http://schemas.openxmlformats.org/drawingml/2006/main">
            <a:r>
              <a:t>- BAT README.md — product positioning and localhost API description.</a:t>
            </a:r>
          </a:p>
          <a:p xmlns:a="http://schemas.openxmlformats.org/drawingml/2006/main">
            <a:r>
              <a:t>- BAT Resources/Icon128.png — product icon.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BAT README.md — typed HTTP bridge, reflective primitives, structured diagnostics and JSON error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BAT README.md — preferred workflow, agent handshake flow and canonical routes.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BAT README.md — core API, preferred endpoints and level automation helpers.</a:t>
            </a:r>
          </a:p>
          <a:p xmlns:a="http://schemas.openxmlformats.org/drawingml/2006/main">
            <a:r>
              <a:t>- BAT Docs/openapi.yaml — route inventory.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Blueprint Automation Toolkit README.md — POST /ai/editor/layout/apply route and actor-layout request format.</a:t>
            </a:r>
          </a:p>
          <a:p xmlns:a="http://schemas.openxmlformats.org/drawingml/2006/main">
            <a:r>
              <a:t>- unreal-bat-live-command-final.png — authentic Unreal Editor 5.5 capture produced after the live BAT request; no token is shown.</a:t>
            </a:r>
          </a:p>
          <a:p xmlns:a="http://schemas.openxmlformats.org/drawingml/2006/main">
            <a:r>
              <a:t>- Visible Codex command — the natural-language scene instruction translated into the authenticated BAT layout payload.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BAT README.md — security model, marketplace-safe defaults, permission prompt, rate limits and scoped tokens.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BAT BlueprintAutomationToolkit.uplugin — EditorNoCommandlet module, Win64 PlatformAllowList, Editor TargetAllowList and built-in plugin dependencies.</a:t>
            </a:r>
          </a:p>
          <a:p xmlns:a="http://schemas.openxmlformats.org/drawingml/2006/main">
            <a:r>
              <a:t>- BAT Resources/Docs/FabTechnicalInformation.md — supported engine versions and editor-only distribution details.</a:t>
            </a:r>
          </a:p>
          <a:p xmlns:a="http://schemas.openxmlformats.org/drawingml/2006/main">
            <a:r>
              <a:t>- Fab remediation package audit — source-only UE 5.5–5.8 packages validated with BuildPlugin.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BAT README.md — installation steps and start-server workflow.</a:t>
            </a:r>
          </a:p>
          <a:p xmlns:a="http://schemas.openxmlformats.org/drawingml/2006/main">
            <a:r>
              <a:t>- GitHub repository and v1.0.0 release URLs.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0393d9eae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63c71ae24c4f44" /><Relationship Type="http://schemas.openxmlformats.org/officeDocument/2006/relationships/slideLayout" Target="/ppt/slideLayouts/slideLayout1.xml" Id="Rbe9bbcdf45594a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bbcdf45594a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912ea5db1484c" /><Relationship Type="http://schemas.openxmlformats.org/officeDocument/2006/relationships/image" Target="/ppt/media/image.png" Id="Rbe537997bd1041af" /><Relationship Type="http://schemas.openxmlformats.org/officeDocument/2006/relationships/notesSlide" Target="/ppt/notesSlides/notesSlide1.xml" Id="R95a3699e940344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302e51705492c" /><Relationship Type="http://schemas.openxmlformats.org/officeDocument/2006/relationships/notesSlide" Target="/ppt/notesSlides/notesSlide2.xml" Id="Rd3a17ec4a436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3507350724972" /><Relationship Type="http://schemas.openxmlformats.org/officeDocument/2006/relationships/notesSlide" Target="/ppt/notesSlides/notesSlide3.xml" Id="Ra453512e476342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94249513144ce" /><Relationship Type="http://schemas.openxmlformats.org/officeDocument/2006/relationships/notesSlide" Target="/ppt/notesSlides/notesSlide4.xml" Id="R7f2ab6a93ba84f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f2236f6eb4123" /><Relationship Type="http://schemas.openxmlformats.org/officeDocument/2006/relationships/image" Target="/ppt/media/image2.png" Id="R8353cc0a51e5421c" /><Relationship Type="http://schemas.openxmlformats.org/officeDocument/2006/relationships/notesSlide" Target="/ppt/notesSlides/notesSlide5.xml" Id="R5fb3b263fe40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837b19cde4c8a" /><Relationship Type="http://schemas.openxmlformats.org/officeDocument/2006/relationships/notesSlide" Target="/ppt/notesSlides/notesSlide6.xml" Id="Rfb849e6779ae47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efbb72b0b4041" /><Relationship Type="http://schemas.openxmlformats.org/officeDocument/2006/relationships/notesSlide" Target="/ppt/notesSlides/notesSlide7.xml" Id="R169f072b61f141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e15840a384bc3" /><Relationship Type="http://schemas.openxmlformats.org/officeDocument/2006/relationships/notesSlide" Target="/ppt/notesSlides/notesSlide8.xml" Id="Rccda2bdde867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C1B4F6D-E02F-4742-938D-ABC83D3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AKASOFT · UNREAL ENGINE EDITOR AUTOMATION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C83B0CD-0370-4C31-975E-43D3274F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752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Blueprint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Automation Toolkit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DD9D5E6-FB32-40DB-AF01-E3091DDE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9616F"/>
                </a:solidFill>
                <a:latin typeface="Arial"/>
                <a:ea typeface="Arial"/>
                <a:cs typeface="Arial"/>
              </a:rPr>
              <a:t>Control Unreal Editor through a secure, typed localhost API.</a:t>
            </a:r>
          </a:p>
        </p:txBody>
      </p:sp>
      <p:sp>
        <p:nvSpPr>
          <p:cNvPr id="4" name="cover-icon-panel">
            <a:extLst xmlns:a="http://schemas.openxmlformats.org/drawingml/2006/main">
              <a:ext uri="{FF2B5EF4-FFF2-40B4-BE49-F238E27FC236}">
                <a16:creationId xmlns:a16="http://schemas.microsoft.com/office/drawing/2014/main" id="{7BB96ADE-464F-4DCD-A272-D3593062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80C18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37997bd1041af"/>
          <a:stretch xmlns:a="http://schemas.openxmlformats.org/drawingml/2006/main"/>
        </p:blipFill>
        <p:spPr>
          <a:xfrm xmlns:a="http://schemas.openxmlformats.org/drawingml/2006/main">
            <a:off x="9048750" y="1790700"/>
            <a:ext cx="1733550" cy="1733550"/>
          </a:xfrm>
          <a:prstGeom xmlns:a="http://schemas.openxmlformats.org/drawingml/2006/main" prst="rect">
            <a:avLst/>
          </a:prstGeom>
        </p:spPr>
      </p:pic>
      <p:cxnSp>
        <p:nvCxnSpPr>
          <p:cNvPr id="41" name="cover-accent-rule"/>
          <p:cNvCxnSpPr/>
          <p:nvPr/>
        </p:nvCxnSpPr>
        <p:spPr>
          <a:xfrm xmlns:a="http://schemas.openxmlformats.org/drawingml/2006/main">
            <a:off x="457200" y="5391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76BB637E-22F6-4EDB-BC1D-B51352F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UE 5.5–5.8   ·   WIN64   ·   EDITOR-ONLY   ·   VERSION 1.0.0</a:t>
            </a:r>
          </a:p>
        </p:txBody>
      </p:sp>
    </p:spTree>
    <p:extLst>
      <p:ext uri="{BB962C8B-B14F-4D97-AF65-F5344CB8AC3E}">
        <p14:creationId xmlns:p14="http://schemas.microsoft.com/office/powerpoint/2010/main" val="1828829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30A0811-C320-4B1F-BFB6-EBD916A6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Stop automating pixels. Start automating intent.</a:t>
            </a:r>
          </a:p>
        </p:txBody>
      </p:sp>
      <p:cxnSp>
        <p:nvCxnSpPr>
          <p:cNvPr id="21" name="slide-2-title-rule"/>
          <p:cNvCxnSpPr/>
          <p:nvPr/>
        </p:nvCxnSpPr>
        <p:spPr>
          <a:xfrm xmlns:a="http://schemas.openxmlformats.org/drawingml/2006/main">
            <a:off x="457200" y="1200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3" name="contrast-left-label">
            <a:extLst xmlns:a="http://schemas.openxmlformats.org/drawingml/2006/main">
              <a:ext uri="{FF2B5EF4-FFF2-40B4-BE49-F238E27FC236}">
                <a16:creationId xmlns:a16="http://schemas.microsoft.com/office/drawing/2014/main" id="{1FEEFD14-A03D-4183-9BC9-DC9B287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UI-DRIVEN AUTOMATION</a:t>
            </a:r>
          </a:p>
        </p:txBody>
      </p:sp>
      <p:sp>
        <p:nvSpPr>
          <p:cNvPr id="4" name="contrast-left-title">
            <a:extLst xmlns:a="http://schemas.openxmlformats.org/drawingml/2006/main">
              <a:ext uri="{FF2B5EF4-FFF2-40B4-BE49-F238E27FC236}">
                <a16:creationId xmlns:a16="http://schemas.microsoft.com/office/drawing/2014/main" id="{96A139B2-DD13-41AE-88B9-36A9F19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Fragile by default</a:t>
            </a:r>
          </a:p>
        </p:txBody>
      </p:sp>
      <p:sp>
        <p:nvSpPr>
          <p:cNvPr id="5" name="contrast-left-body">
            <a:extLst xmlns:a="http://schemas.openxmlformats.org/drawingml/2006/main">
              <a:ext uri="{FF2B5EF4-FFF2-40B4-BE49-F238E27FC236}">
                <a16:creationId xmlns:a16="http://schemas.microsoft.com/office/drawing/2014/main" id="{B8668266-2D1D-430A-8A68-1B29ADB0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9616F"/>
                </a:solidFill>
                <a:latin typeface="Arial"/>
                <a:ea typeface="Arial"/>
                <a:cs typeface="Arial"/>
              </a:rPr>
              <a:t>Coordinates drift.</a:t>
            </a:r>
          </a:p>
          <a:p xmlns:a="http://schemas.openxmlformats.org/drawingml/2006/main">
            <a:pPr algn="l">
              <a:buNone/>
              <a:defRPr sz="202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9616F"/>
                </a:solidFill>
                <a:latin typeface="Arial"/>
                <a:ea typeface="Arial"/>
                <a:cs typeface="Arial"/>
              </a:rPr>
              <a:t>State stays implicit.</a:t>
            </a:r>
          </a:p>
          <a:p xmlns:a="http://schemas.openxmlformats.org/drawingml/2006/main">
            <a:pPr algn="l">
              <a:buNone/>
              <a:defRPr sz="202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9616F"/>
                </a:solidFill>
                <a:latin typeface="Arial"/>
                <a:ea typeface="Arial"/>
                <a:cs typeface="Arial"/>
              </a:rPr>
              <a:t>Retries are risky.</a:t>
            </a:r>
          </a:p>
          <a:p xmlns:a="http://schemas.openxmlformats.org/drawingml/2006/main">
            <a:pPr algn="l">
              <a:buNone/>
              <a:defRPr sz="202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9616F"/>
                </a:solidFill>
                <a:latin typeface="Arial"/>
                <a:ea typeface="Arial"/>
                <a:cs typeface="Arial"/>
              </a:rPr>
              <a:t>Errors arrive as screenshots.</a:t>
            </a:r>
          </a:p>
        </p:txBody>
      </p:sp>
      <p:sp>
        <p:nvSpPr>
          <p:cNvPr id="6" name="contrast-right-panel">
            <a:extLst xmlns:a="http://schemas.openxmlformats.org/drawingml/2006/main">
              <a:ext uri="{FF2B5EF4-FFF2-40B4-BE49-F238E27FC236}">
                <a16:creationId xmlns:a16="http://schemas.microsoft.com/office/drawing/2014/main" id="{65D8099D-CD6E-4728-B36C-1B90A638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5626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ntrast-right-label">
            <a:extLst xmlns:a="http://schemas.openxmlformats.org/drawingml/2006/main">
              <a:ext uri="{FF2B5EF4-FFF2-40B4-BE49-F238E27FC236}">
                <a16:creationId xmlns:a16="http://schemas.microsoft.com/office/drawing/2014/main" id="{38965A69-9B59-4609-8221-B86B23D7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BLUEPRINT AUTOMATION TOOLKIT</a:t>
            </a:r>
          </a:p>
        </p:txBody>
      </p:sp>
      <p:sp>
        <p:nvSpPr>
          <p:cNvPr id="8" name="contrast-right-title">
            <a:extLst xmlns:a="http://schemas.openxmlformats.org/drawingml/2006/main">
              <a:ext uri="{FF2B5EF4-FFF2-40B4-BE49-F238E27FC236}">
                <a16:creationId xmlns:a16="http://schemas.microsoft.com/office/drawing/2014/main" id="{61AA3692-AEEC-4CE3-9675-C94B429F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Structured by design</a:t>
            </a:r>
          </a:p>
        </p:txBody>
      </p:sp>
      <p:sp>
        <p:nvSpPr>
          <p:cNvPr id="9" name="contrast-right-body">
            <a:extLst xmlns:a="http://schemas.openxmlformats.org/drawingml/2006/main">
              <a:ext uri="{FF2B5EF4-FFF2-40B4-BE49-F238E27FC236}">
                <a16:creationId xmlns:a16="http://schemas.microsoft.com/office/drawing/2014/main" id="{FA1934EE-4DDC-4DBF-9124-4DEBE4A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80A0F"/>
                </a:solidFill>
                <a:latin typeface="Arial"/>
                <a:ea typeface="Arial"/>
                <a:cs typeface="Arial"/>
              </a:rPr>
              <a:t>Typed JSON requests.</a:t>
            </a:r>
          </a:p>
          <a:p xmlns:a="http://schemas.openxmlformats.org/drawingml/2006/main">
            <a:pPr algn="l">
              <a:buNone/>
              <a:defRPr sz="2025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80A0F"/>
                </a:solidFill>
                <a:latin typeface="Arial"/>
                <a:ea typeface="Arial"/>
                <a:cs typeface="Arial"/>
              </a:rPr>
              <a:t>Discoverable capabilities.</a:t>
            </a:r>
          </a:p>
          <a:p xmlns:a="http://schemas.openxmlformats.org/drawingml/2006/main">
            <a:pPr algn="l">
              <a:buNone/>
              <a:defRPr sz="2025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80A0F"/>
                </a:solidFill>
                <a:latin typeface="Arial"/>
                <a:ea typeface="Arial"/>
                <a:cs typeface="Arial"/>
              </a:rPr>
              <a:t>Stable object references.</a:t>
            </a:r>
          </a:p>
          <a:p xmlns:a="http://schemas.openxmlformats.org/drawingml/2006/main">
            <a:pPr algn="l">
              <a:buNone/>
              <a:defRPr sz="2025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80A0F"/>
                </a:solidFill>
                <a:latin typeface="Arial"/>
                <a:ea typeface="Arial"/>
                <a:cs typeface="Arial"/>
              </a:rPr>
              <a:t>Explicit success and error models.</a:t>
            </a:r>
          </a:p>
        </p:txBody>
      </p:sp>
      <p:sp>
        <p:nvSpPr>
          <p:cNvPr id="10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3FEB102E-8194-4B0D-9137-94586C2D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BLUEPRINT AUTOMATION TOOLKIT</a:t>
            </a:r>
          </a:p>
        </p:txBody>
      </p:sp>
      <p:sp>
        <p:nvSpPr>
          <p:cNvPr id="11" name="slide-2-footer-page">
            <a:extLst xmlns:a="http://schemas.openxmlformats.org/drawingml/2006/main">
              <a:ext uri="{FF2B5EF4-FFF2-40B4-BE49-F238E27FC236}">
                <a16:creationId xmlns:a16="http://schemas.microsoft.com/office/drawing/2014/main" id="{238C70CC-9A49-49E5-940A-8E4A6578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0766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9078AD9-0B49-4DEC-8AE4-FA9EC04D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Agents move reliably from intent to saved assets.</a:t>
            </a:r>
          </a:p>
        </p:txBody>
      </p:sp>
      <p:cxnSp>
        <p:nvCxnSpPr>
          <p:cNvPr id="39" name="slide-3-title-rule"/>
          <p:cNvCxnSpPr/>
          <p:nvPr/>
        </p:nvCxnSpPr>
        <p:spPr>
          <a:xfrm xmlns:a="http://schemas.openxmlformats.org/drawingml/2006/main">
            <a:off x="457200" y="1200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cxnSp>
        <p:nvCxnSpPr>
          <p:cNvPr id="40" name="workflow-line-1"/>
          <p:cNvCxnSpPr/>
          <p:nvPr/>
        </p:nvCxnSpPr>
        <p:spPr>
          <a:xfrm xmlns:a="http://schemas.openxmlformats.org/drawingml/2006/main">
            <a:off x="2343150" y="3238500"/>
            <a:ext cx="1981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0A0F"/>
            </a:solidFill>
            <a:prstDash val="solid"/>
          </a:ln>
        </p:spPr>
      </p:cxnSp>
      <p:cxnSp>
        <p:nvCxnSpPr>
          <p:cNvPr id="41" name="workflow-line-2"/>
          <p:cNvCxnSpPr/>
          <p:nvPr/>
        </p:nvCxnSpPr>
        <p:spPr>
          <a:xfrm xmlns:a="http://schemas.openxmlformats.org/drawingml/2006/main">
            <a:off x="7867650" y="3238500"/>
            <a:ext cx="1981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0A0F"/>
            </a:solidFill>
            <a:prstDash val="solid"/>
          </a:ln>
        </p:spPr>
      </p:cxnSp>
      <p:sp>
        <p:nvSpPr>
          <p:cNvPr id="5" name="workflow-panel-1">
            <a:extLst xmlns:a="http://schemas.openxmlformats.org/drawingml/2006/main">
              <a:ext uri="{FF2B5EF4-FFF2-40B4-BE49-F238E27FC236}">
                <a16:creationId xmlns:a16="http://schemas.microsoft.com/office/drawing/2014/main" id="{C0A1E1C0-B6F8-464F-9426-23F039D5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562350" cy="36766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label-1">
            <a:extLst xmlns:a="http://schemas.openxmlformats.org/drawingml/2006/main">
              <a:ext uri="{FF2B5EF4-FFF2-40B4-BE49-F238E27FC236}">
                <a16:creationId xmlns:a16="http://schemas.microsoft.com/office/drawing/2014/main" id="{087417DA-1E6A-4223-B1B6-A3AEC86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01 · DISCOVER</a:t>
            </a:r>
          </a:p>
        </p:txBody>
      </p:sp>
      <p:sp>
        <p:nvSpPr>
          <p:cNvPr id="7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82176863-10B3-4910-8577-5966657D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Know the gates</a:t>
            </a:r>
          </a:p>
        </p:txBody>
      </p:sp>
      <p:sp>
        <p:nvSpPr>
          <p:cNvPr id="8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B53ECDB5-9873-4683-8A73-810CAE4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3009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16F"/>
                </a:solidFill>
                <a:latin typeface="Arial"/>
                <a:ea typeface="Arial"/>
                <a:cs typeface="Arial"/>
              </a:rPr>
              <a:t>Confirm the editor, safe-mode state, permissions, and recommended route flow.</a:t>
            </a:r>
          </a:p>
        </p:txBody>
      </p:sp>
      <p:sp>
        <p:nvSpPr>
          <p:cNvPr id="9" name="workflow-code-1">
            <a:extLst xmlns:a="http://schemas.openxmlformats.org/drawingml/2006/main">
              <a:ext uri="{FF2B5EF4-FFF2-40B4-BE49-F238E27FC236}">
                <a16:creationId xmlns:a16="http://schemas.microsoft.com/office/drawing/2014/main" id="{1DCF77F1-222E-4AC2-8CB6-88E40365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0A0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80A0F"/>
                </a:solidFill>
                <a:latin typeface="Consolas"/>
                <a:ea typeface="Consolas"/>
                <a:cs typeface="Consolas"/>
              </a:rPr>
              <a:t>GET /engine/discover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80A0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80A0F"/>
                </a:solidFill>
                <a:latin typeface="Consolas"/>
                <a:ea typeface="Consolas"/>
                <a:cs typeface="Consolas"/>
              </a:rPr>
              <a:t>GET /health</a:t>
            </a:r>
          </a:p>
        </p:txBody>
      </p:sp>
      <p:sp>
        <p:nvSpPr>
          <p:cNvPr id="10" name="workflow-panel-2">
            <a:extLst xmlns:a="http://schemas.openxmlformats.org/drawingml/2006/main">
              <a:ext uri="{FF2B5EF4-FFF2-40B4-BE49-F238E27FC236}">
                <a16:creationId xmlns:a16="http://schemas.microsoft.com/office/drawing/2014/main" id="{3281AB34-ED99-4BEE-A754-69DC7C9C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562350" cy="36766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workflow-label-2">
            <a:extLst xmlns:a="http://schemas.openxmlformats.org/drawingml/2006/main">
              <a:ext uri="{FF2B5EF4-FFF2-40B4-BE49-F238E27FC236}">
                <a16:creationId xmlns:a16="http://schemas.microsoft.com/office/drawing/2014/main" id="{02828DED-688A-465C-8B23-C82B8D74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621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 · ACT</a:t>
            </a:r>
          </a:p>
        </p:txBody>
      </p:sp>
      <p:sp>
        <p:nvSpPr>
          <p:cNvPr id="12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9B3D8092-1943-4D48-90B1-2FA3B9A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Change real editor state</a:t>
            </a:r>
          </a:p>
        </p:txBody>
      </p:sp>
      <p:sp>
        <p:nvSpPr>
          <p:cNvPr id="13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A6998B39-BE5F-4281-8145-D3D81327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3009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16F"/>
                </a:solidFill>
                <a:latin typeface="Arial"/>
                <a:ea typeface="Arial"/>
                <a:cs typeface="Arial"/>
              </a:rPr>
              <a:t>Resolve objects, mutate properties, edit graphs, spawn actors, and control levels.</a:t>
            </a:r>
          </a:p>
        </p:txBody>
      </p:sp>
      <p:sp>
        <p:nvSpPr>
          <p:cNvPr id="14" name="workflow-code-2">
            <a:extLst xmlns:a="http://schemas.openxmlformats.org/drawingml/2006/main">
              <a:ext uri="{FF2B5EF4-FFF2-40B4-BE49-F238E27FC236}">
                <a16:creationId xmlns:a16="http://schemas.microsoft.com/office/drawing/2014/main" id="{ACB1B7E4-7E41-4123-B5E9-14DBD55A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0A0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80A0F"/>
                </a:solidFill>
                <a:latin typeface="Consolas"/>
                <a:ea typeface="Consolas"/>
                <a:cs typeface="Consolas"/>
              </a:rPr>
              <a:t>POST /object/resolve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80A0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80A0F"/>
                </a:solidFill>
                <a:latin typeface="Consolas"/>
                <a:ea typeface="Consolas"/>
                <a:cs typeface="Consolas"/>
              </a:rPr>
              <a:t>POST /blueprint/graph/apply</a:t>
            </a:r>
          </a:p>
        </p:txBody>
      </p:sp>
      <p:sp>
        <p:nvSpPr>
          <p:cNvPr id="15" name="workflow-panel-3">
            <a:extLst xmlns:a="http://schemas.openxmlformats.org/drawingml/2006/main">
              <a:ext uri="{FF2B5EF4-FFF2-40B4-BE49-F238E27FC236}">
                <a16:creationId xmlns:a16="http://schemas.microsoft.com/office/drawing/2014/main" id="{E1EDE9BF-2F46-4BAB-9F08-30F3157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562350" cy="36766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orkflow-label-3">
            <a:extLst xmlns:a="http://schemas.openxmlformats.org/drawingml/2006/main">
              <a:ext uri="{FF2B5EF4-FFF2-40B4-BE49-F238E27FC236}">
                <a16:creationId xmlns:a16="http://schemas.microsoft.com/office/drawing/2014/main" id="{594BE762-E591-4CFE-8AFA-02625DFF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03 · VALIDATE</a:t>
            </a:r>
          </a:p>
        </p:txBody>
      </p:sp>
      <p:sp>
        <p:nvSpPr>
          <p:cNvPr id="17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D62ECC55-DB42-46F2-B1BC-A9F6D676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Persist with proof</a:t>
            </a:r>
          </a:p>
        </p:txBody>
      </p:sp>
      <p:sp>
        <p:nvSpPr>
          <p:cNvPr id="18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9FE8BF37-D86E-44C3-A349-2BA9513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3009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16F"/>
                </a:solidFill>
                <a:latin typeface="Arial"/>
                <a:ea typeface="Arial"/>
                <a:cs typeface="Arial"/>
              </a:rPr>
              <a:t>Compile, inspect normalized diagnostics, and save assets or levels explicitly.</a:t>
            </a:r>
          </a:p>
        </p:txBody>
      </p:sp>
      <p:sp>
        <p:nvSpPr>
          <p:cNvPr id="19" name="workflow-code-3">
            <a:extLst xmlns:a="http://schemas.openxmlformats.org/drawingml/2006/main">
              <a:ext uri="{FF2B5EF4-FFF2-40B4-BE49-F238E27FC236}">
                <a16:creationId xmlns:a16="http://schemas.microsoft.com/office/drawing/2014/main" id="{9890ABED-2B4A-4339-A702-7BDFA2EC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86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0A0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80A0F"/>
                </a:solidFill>
                <a:latin typeface="Consolas"/>
                <a:ea typeface="Consolas"/>
                <a:cs typeface="Consolas"/>
              </a:rPr>
              <a:t>POST /blueprint/compile_save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80A0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80A0F"/>
                </a:solidFill>
                <a:latin typeface="Consolas"/>
                <a:ea typeface="Consolas"/>
                <a:cs typeface="Consolas"/>
              </a:rPr>
              <a:t>POST /asset/save</a:t>
            </a:r>
          </a:p>
        </p:txBody>
      </p:sp>
      <p:sp>
        <p:nvSpPr>
          <p:cNvPr id="20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B1DB98FF-629B-4021-891C-88D4BA84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BLUEPRINT AUTOMATION TOOLKIT</a:t>
            </a:r>
          </a:p>
        </p:txBody>
      </p:sp>
      <p:sp>
        <p:nvSpPr>
          <p:cNvPr id="21" name="slide-3-footer-page">
            <a:extLst xmlns:a="http://schemas.openxmlformats.org/drawingml/2006/main">
              <a:ext uri="{FF2B5EF4-FFF2-40B4-BE49-F238E27FC236}">
                <a16:creationId xmlns:a16="http://schemas.microsoft.com/office/drawing/2014/main" id="{F6F6AF9F-B494-4C44-B3FC-1AC2E2F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6570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470E52B-2509-444A-81BD-76FB314F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One bridge reaches the editor surfaces that matter.</a:t>
            </a:r>
          </a:p>
        </p:txBody>
      </p:sp>
      <p:cxnSp>
        <p:nvCxnSpPr>
          <p:cNvPr id="126" name="slide-4-title-rule"/>
          <p:cNvCxnSpPr/>
          <p:nvPr/>
        </p:nvCxnSpPr>
        <p:spPr>
          <a:xfrm xmlns:a="http://schemas.openxmlformats.org/drawingml/2006/main">
            <a:off x="457200" y="1200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cxnSp>
        <p:nvCxnSpPr>
          <p:cNvPr id="127" name="capability-rule-1"/>
          <p:cNvCxnSpPr/>
          <p:nvPr/>
        </p:nvCxnSpPr>
        <p:spPr>
          <a:xfrm xmlns:a="http://schemas.openxmlformats.org/drawingml/2006/main">
            <a:off x="457200" y="165735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capability-title-1">
            <a:extLst xmlns:a="http://schemas.openxmlformats.org/drawingml/2006/main">
              <a:ext uri="{FF2B5EF4-FFF2-40B4-BE49-F238E27FC236}">
                <a16:creationId xmlns:a16="http://schemas.microsoft.com/office/drawing/2014/main" id="{1528F8B6-B87A-4630-9C86-F62D55FF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Blueprints</a:t>
            </a:r>
          </a:p>
        </p:txBody>
      </p:sp>
      <p:sp>
        <p:nvSpPr>
          <p:cNvPr id="5" name="capability-body-1">
            <a:extLst xmlns:a="http://schemas.openxmlformats.org/drawingml/2006/main">
              <a:ext uri="{FF2B5EF4-FFF2-40B4-BE49-F238E27FC236}">
                <a16:creationId xmlns:a16="http://schemas.microsoft.com/office/drawing/2014/main" id="{C53D2C08-929C-413E-A262-0BAA6759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Read, edit, compile, and save graphs.</a:t>
            </a:r>
          </a:p>
        </p:txBody>
      </p:sp>
      <p:cxnSp>
        <p:nvCxnSpPr>
          <p:cNvPr id="130" name="capability-rule-2"/>
          <p:cNvCxnSpPr/>
          <p:nvPr/>
        </p:nvCxnSpPr>
        <p:spPr>
          <a:xfrm xmlns:a="http://schemas.openxmlformats.org/drawingml/2006/main">
            <a:off x="3333750" y="165735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7" name="capability-title-2">
            <a:extLst xmlns:a="http://schemas.openxmlformats.org/drawingml/2006/main">
              <a:ext uri="{FF2B5EF4-FFF2-40B4-BE49-F238E27FC236}">
                <a16:creationId xmlns:a16="http://schemas.microsoft.com/office/drawing/2014/main" id="{2787B4AA-768C-4551-9D65-F982DC79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Reflected objects</a:t>
            </a:r>
          </a:p>
        </p:txBody>
      </p:sp>
      <p:sp>
        <p:nvSpPr>
          <p:cNvPr id="8" name="capability-body-2">
            <a:extLst xmlns:a="http://schemas.openxmlformats.org/drawingml/2006/main">
              <a:ext uri="{FF2B5EF4-FFF2-40B4-BE49-F238E27FC236}">
                <a16:creationId xmlns:a16="http://schemas.microsoft.com/office/drawing/2014/main" id="{5C5B581C-72BE-4E8F-A5E2-BB7ED971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Inspect fields and call exposed UFunctions.</a:t>
            </a:r>
          </a:p>
        </p:txBody>
      </p:sp>
      <p:cxnSp>
        <p:nvCxnSpPr>
          <p:cNvPr id="133" name="capability-rule-3"/>
          <p:cNvCxnSpPr/>
          <p:nvPr/>
        </p:nvCxnSpPr>
        <p:spPr>
          <a:xfrm xmlns:a="http://schemas.openxmlformats.org/drawingml/2006/main">
            <a:off x="6210300" y="165735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0" name="capability-title-3">
            <a:extLst xmlns:a="http://schemas.openxmlformats.org/drawingml/2006/main">
              <a:ext uri="{FF2B5EF4-FFF2-40B4-BE49-F238E27FC236}">
                <a16:creationId xmlns:a16="http://schemas.microsoft.com/office/drawing/2014/main" id="{D80E0491-8CFA-476F-AF91-502C154F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Actors &amp; levels</a:t>
            </a:r>
          </a:p>
        </p:txBody>
      </p:sp>
      <p:sp>
        <p:nvSpPr>
          <p:cNvPr id="11" name="capability-body-3">
            <a:extLst xmlns:a="http://schemas.openxmlformats.org/drawingml/2006/main">
              <a:ext uri="{FF2B5EF4-FFF2-40B4-BE49-F238E27FC236}">
                <a16:creationId xmlns:a16="http://schemas.microsoft.com/office/drawing/2014/main" id="{CF6C947C-766E-4574-80DE-3DAA783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Spawn, destroy, audit, load, and save.</a:t>
            </a:r>
          </a:p>
        </p:txBody>
      </p:sp>
      <p:cxnSp>
        <p:nvCxnSpPr>
          <p:cNvPr id="136" name="capability-rule-4"/>
          <p:cNvCxnSpPr/>
          <p:nvPr/>
        </p:nvCxnSpPr>
        <p:spPr>
          <a:xfrm xmlns:a="http://schemas.openxmlformats.org/drawingml/2006/main">
            <a:off x="9086850" y="165735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13" name="capability-title-4">
            <a:extLst xmlns:a="http://schemas.openxmlformats.org/drawingml/2006/main">
              <a:ext uri="{FF2B5EF4-FFF2-40B4-BE49-F238E27FC236}">
                <a16:creationId xmlns:a16="http://schemas.microsoft.com/office/drawing/2014/main" id="{AB9A860F-9AD5-478B-BA65-A87E9829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28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14" name="capability-body-4">
            <a:extLst xmlns:a="http://schemas.openxmlformats.org/drawingml/2006/main">
              <a:ext uri="{FF2B5EF4-FFF2-40B4-BE49-F238E27FC236}">
                <a16:creationId xmlns:a16="http://schemas.microsoft.com/office/drawing/2014/main" id="{B942D015-6E15-4D07-B8D7-1FDE40EE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Resolve, create, mutate, save, and delete.</a:t>
            </a:r>
          </a:p>
        </p:txBody>
      </p:sp>
      <p:cxnSp>
        <p:nvCxnSpPr>
          <p:cNvPr id="139" name="capability-rule-5"/>
          <p:cNvCxnSpPr/>
          <p:nvPr/>
        </p:nvCxnSpPr>
        <p:spPr>
          <a:xfrm xmlns:a="http://schemas.openxmlformats.org/drawingml/2006/main">
            <a:off x="457200" y="396240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6" name="capability-title-5">
            <a:extLst xmlns:a="http://schemas.openxmlformats.org/drawingml/2006/main">
              <a:ext uri="{FF2B5EF4-FFF2-40B4-BE49-F238E27FC236}">
                <a16:creationId xmlns:a16="http://schemas.microsoft.com/office/drawing/2014/main" id="{7D64826D-E38B-4FBF-9946-E36DD6E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Editor context</a:t>
            </a:r>
          </a:p>
        </p:txBody>
      </p:sp>
      <p:sp>
        <p:nvSpPr>
          <p:cNvPr id="17" name="capability-body-5">
            <a:extLst xmlns:a="http://schemas.openxmlformats.org/drawingml/2006/main">
              <a:ext uri="{FF2B5EF4-FFF2-40B4-BE49-F238E27FC236}">
                <a16:creationId xmlns:a16="http://schemas.microsoft.com/office/drawing/2014/main" id="{4517B954-78E6-484E-A062-15BD416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Selection, focus, map, and scene state.</a:t>
            </a:r>
          </a:p>
        </p:txBody>
      </p:sp>
      <p:cxnSp>
        <p:nvCxnSpPr>
          <p:cNvPr id="142" name="capability-rule-6"/>
          <p:cNvCxnSpPr/>
          <p:nvPr/>
        </p:nvCxnSpPr>
        <p:spPr>
          <a:xfrm xmlns:a="http://schemas.openxmlformats.org/drawingml/2006/main">
            <a:off x="3333750" y="396240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19" name="capability-title-6">
            <a:extLst xmlns:a="http://schemas.openxmlformats.org/drawingml/2006/main">
              <a:ext uri="{FF2B5EF4-FFF2-40B4-BE49-F238E27FC236}">
                <a16:creationId xmlns:a16="http://schemas.microsoft.com/office/drawing/2014/main" id="{08E43CB7-1FF0-4AF6-96DC-43A79A08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Play In Editor</a:t>
            </a:r>
          </a:p>
        </p:txBody>
      </p:sp>
      <p:sp>
        <p:nvSpPr>
          <p:cNvPr id="20" name="capability-body-6">
            <a:extLst xmlns:a="http://schemas.openxmlformats.org/drawingml/2006/main">
              <a:ext uri="{FF2B5EF4-FFF2-40B4-BE49-F238E27FC236}">
                <a16:creationId xmlns:a16="http://schemas.microsoft.com/office/drawing/2014/main" id="{AFBED5D8-1728-4BEF-9077-A4F1838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Start and stop PIE through permissioned routes.</a:t>
            </a:r>
          </a:p>
        </p:txBody>
      </p:sp>
      <p:cxnSp>
        <p:nvCxnSpPr>
          <p:cNvPr id="145" name="capability-rule-7"/>
          <p:cNvCxnSpPr/>
          <p:nvPr/>
        </p:nvCxnSpPr>
        <p:spPr>
          <a:xfrm xmlns:a="http://schemas.openxmlformats.org/drawingml/2006/main">
            <a:off x="6210300" y="396240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22" name="capability-title-7">
            <a:extLst xmlns:a="http://schemas.openxmlformats.org/drawingml/2006/main">
              <a:ext uri="{FF2B5EF4-FFF2-40B4-BE49-F238E27FC236}">
                <a16:creationId xmlns:a16="http://schemas.microsoft.com/office/drawing/2014/main" id="{F9E60ACF-02D7-4E73-A17A-3C28F59F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23" name="capability-body-7">
            <a:extLst xmlns:a="http://schemas.openxmlformats.org/drawingml/2006/main">
              <a:ext uri="{FF2B5EF4-FFF2-40B4-BE49-F238E27FC236}">
                <a16:creationId xmlns:a16="http://schemas.microsoft.com/office/drawing/2014/main" id="{99393212-4335-438B-BF7D-24509048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339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Texture samples, geometry, and skeleton data.</a:t>
            </a:r>
          </a:p>
        </p:txBody>
      </p:sp>
      <p:cxnSp>
        <p:nvCxnSpPr>
          <p:cNvPr id="148" name="capability-rule-8"/>
          <p:cNvCxnSpPr/>
          <p:nvPr/>
        </p:nvCxnSpPr>
        <p:spPr>
          <a:xfrm xmlns:a="http://schemas.openxmlformats.org/drawingml/2006/main">
            <a:off x="9086850" y="3962400"/>
            <a:ext cx="4000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25" name="capability-title-8">
            <a:extLst xmlns:a="http://schemas.openxmlformats.org/drawingml/2006/main">
              <a:ext uri="{FF2B5EF4-FFF2-40B4-BE49-F238E27FC236}">
                <a16:creationId xmlns:a16="http://schemas.microsoft.com/office/drawing/2014/main" id="{B58E1851-2AEE-408E-B3F9-A6FB30ED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33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Extensibility</a:t>
            </a:r>
          </a:p>
        </p:txBody>
      </p:sp>
      <p:sp>
        <p:nvSpPr>
          <p:cNvPr id="26" name="capability-body-8">
            <a:extLst xmlns:a="http://schemas.openxmlformats.org/drawingml/2006/main">
              <a:ext uri="{FF2B5EF4-FFF2-40B4-BE49-F238E27FC236}">
                <a16:creationId xmlns:a16="http://schemas.microsoft.com/office/drawing/2014/main" id="{09402C11-FB36-46CA-996F-89A22095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339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9616F"/>
                </a:solidFill>
                <a:latin typeface="Arial"/>
                <a:ea typeface="Arial"/>
                <a:cs typeface="Arial"/>
              </a:rPr>
              <a:t>Register commands from other editor plugins.</a:t>
            </a:r>
          </a:p>
        </p:txBody>
      </p:sp>
      <p:sp>
        <p:nvSpPr>
          <p:cNvPr id="27" name="slide-4-footer-label">
            <a:extLst xmlns:a="http://schemas.openxmlformats.org/drawingml/2006/main">
              <a:ext uri="{FF2B5EF4-FFF2-40B4-BE49-F238E27FC236}">
                <a16:creationId xmlns:a16="http://schemas.microsoft.com/office/drawing/2014/main" id="{A9999C9A-9FD4-4FA9-8DC2-F7210CF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BLUEPRINT AUTOMATION TOOLKIT</a:t>
            </a:r>
          </a:p>
        </p:txBody>
      </p:sp>
      <p:sp>
        <p:nvSpPr>
          <p:cNvPr id="28" name="slide-4-footer-page">
            <a:extLst xmlns:a="http://schemas.openxmlformats.org/drawingml/2006/main">
              <a:ext uri="{FF2B5EF4-FFF2-40B4-BE49-F238E27FC236}">
                <a16:creationId xmlns:a16="http://schemas.microsoft.com/office/drawing/2014/main" id="{0E77B490-D7F8-492C-ACA8-0FCEBBB1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3872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8085E11-A0B0-4A87-9F04-D10249E5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This Codex command produced the Unreal scene.</a:t>
            </a:r>
          </a:p>
        </p:txBody>
      </p:sp>
      <p:cxnSp>
        <p:nvCxnSpPr>
          <p:cNvPr id="24" name="slide-5-title-rule"/>
          <p:cNvCxnSpPr/>
          <p:nvPr/>
        </p:nvCxnSpPr>
        <p:spPr>
          <a:xfrm xmlns:a="http://schemas.openxmlformats.org/drawingml/2006/main">
            <a:off x="457200" y="1200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3" name="command-kicker">
            <a:extLst xmlns:a="http://schemas.openxmlformats.org/drawingml/2006/main">
              <a:ext uri="{FF2B5EF4-FFF2-40B4-BE49-F238E27FC236}">
                <a16:creationId xmlns:a16="http://schemas.microsoft.com/office/drawing/2014/main" id="{7CA2242A-FA4B-44B4-8CB8-E5FA897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ACTUAL CODEX COMMAND</a:t>
            </a:r>
          </a:p>
        </p:txBody>
      </p:sp>
      <p:sp>
        <p:nvSpPr>
          <p:cNvPr id="4" name="command-title">
            <a:extLst xmlns:a="http://schemas.openxmlformats.org/drawingml/2006/main">
              <a:ext uri="{FF2B5EF4-FFF2-40B4-BE49-F238E27FC236}">
                <a16:creationId xmlns:a16="http://schemas.microsoft.com/office/drawing/2014/main" id="{21262BDE-1B80-4D1E-8BE0-37DF039F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This is the command Codex executed.</a:t>
            </a:r>
          </a:p>
        </p:txBody>
      </p:sp>
      <p:sp>
        <p:nvSpPr>
          <p:cNvPr id="5" name="command-body">
            <a:extLst xmlns:a="http://schemas.openxmlformats.org/drawingml/2006/main">
              <a:ext uri="{FF2B5EF4-FFF2-40B4-BE49-F238E27FC236}">
                <a16:creationId xmlns:a16="http://schemas.microsoft.com/office/drawing/2014/main" id="{2E18F699-8AEA-496F-B598-157AAB50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4953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“Create a BAT demo in the Showcase map: a metallic stage, four blue pillars, two chrome spheres, a gold core, a title, and a key light. Group it under BAT_LIVE_DEMO.”</a:t>
            </a:r>
          </a:p>
        </p:txBody>
      </p:sp>
      <p:sp>
        <p:nvSpPr>
          <p:cNvPr id="6" name="command-note">
            <a:extLst xmlns:a="http://schemas.openxmlformats.org/drawingml/2006/main">
              <a:ext uri="{FF2B5EF4-FFF2-40B4-BE49-F238E27FC236}">
                <a16:creationId xmlns:a16="http://schemas.microsoft.com/office/drawing/2014/main" id="{E5D482EE-F0C5-4683-8DA2-D2557C8B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i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350" i="1">
                <a:solidFill>
                  <a:srgbClr val="59616F"/>
                </a:solidFill>
                <a:latin typeface="Arial"/>
                <a:ea typeface="Arial"/>
                <a:cs typeface="Arial"/>
              </a:rPr>
              <a:t>BAT RESULT · 10 created · 0 rejected · Unreal 5.5</a:t>
            </a:r>
          </a:p>
        </p:txBody>
      </p:sp>
      <p:sp>
        <p:nvSpPr>
          <p:cNvPr id="7" name="command-image-backing">
            <a:extLst xmlns:a="http://schemas.openxmlformats.org/drawingml/2006/main">
              <a:ext uri="{FF2B5EF4-FFF2-40B4-BE49-F238E27FC236}">
                <a16:creationId xmlns:a16="http://schemas.microsoft.com/office/drawing/2014/main" id="{3441A1AF-9A6E-475A-9F99-E5520D3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82930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080C1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3cc0a51e5421c"/>
          <a:stretch xmlns:a="http://schemas.openxmlformats.org/drawingml/2006/main"/>
        </p:blipFill>
        <p:spPr>
          <a:xfrm xmlns:a="http://schemas.openxmlformats.org/drawingml/2006/main" flipH="0" flipV="0">
            <a:off x="5981700" y="2156222"/>
            <a:ext cx="5676900" cy="3193256"/>
          </a:xfrm>
          <a:prstGeom xmlns:a="http://schemas.openxmlformats.org/drawingml/2006/main" prst="roundRect">
            <a:avLst/>
          </a:prstGeom>
        </p:spPr>
      </p:pic>
      <p:sp>
        <p:nvSpPr>
          <p:cNvPr id="9" name="slide-5-footer-label">
            <a:extLst xmlns:a="http://schemas.openxmlformats.org/drawingml/2006/main">
              <a:ext uri="{FF2B5EF4-FFF2-40B4-BE49-F238E27FC236}">
                <a16:creationId xmlns:a16="http://schemas.microsoft.com/office/drawing/2014/main" id="{7E78B963-C16B-4416-B724-A01CB360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BLUEPRINT AUTOMATION TOOLKIT</a:t>
            </a:r>
          </a:p>
        </p:txBody>
      </p:sp>
      <p:sp>
        <p:nvSpPr>
          <p:cNvPr id="10" name="slide-5-footer-page">
            <a:extLst xmlns:a="http://schemas.openxmlformats.org/drawingml/2006/main">
              <a:ext uri="{FF2B5EF4-FFF2-40B4-BE49-F238E27FC236}">
                <a16:creationId xmlns:a16="http://schemas.microsoft.com/office/drawing/2014/main" id="{98309599-0D71-4E2A-82C5-143519A1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1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384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EF9B59D-82EC-469A-BB18-34B8BFB6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Local by design. Permissioned by default.</a:t>
            </a:r>
          </a:p>
        </p:txBody>
      </p:sp>
      <p:cxnSp>
        <p:nvCxnSpPr>
          <p:cNvPr id="67" name="slide-6-title-rule"/>
          <p:cNvCxnSpPr/>
          <p:nvPr/>
        </p:nvCxnSpPr>
        <p:spPr>
          <a:xfrm xmlns:a="http://schemas.openxmlformats.org/drawingml/2006/main">
            <a:off x="457200" y="1200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3" name="security-number-1">
            <a:extLst xmlns:a="http://schemas.openxmlformats.org/drawingml/2006/main">
              <a:ext uri="{FF2B5EF4-FFF2-40B4-BE49-F238E27FC236}">
                <a16:creationId xmlns:a16="http://schemas.microsoft.com/office/drawing/2014/main" id="{69233170-6F40-46A2-AC91-6CDB966D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69" name="security-rule-1"/>
          <p:cNvCxnSpPr/>
          <p:nvPr/>
        </p:nvCxnSpPr>
        <p:spPr>
          <a:xfrm xmlns:a="http://schemas.openxmlformats.org/drawingml/2006/main">
            <a:off x="457200" y="26860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5" name="security-title-1">
            <a:extLst xmlns:a="http://schemas.openxmlformats.org/drawingml/2006/main">
              <a:ext uri="{FF2B5EF4-FFF2-40B4-BE49-F238E27FC236}">
                <a16:creationId xmlns:a16="http://schemas.microsoft.com/office/drawing/2014/main" id="{CAB7B4A3-1E1A-408E-9446-AFBD0BEE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Network boundary</a:t>
            </a:r>
          </a:p>
        </p:txBody>
      </p:sp>
      <p:sp>
        <p:nvSpPr>
          <p:cNvPr id="6" name="security-body-1">
            <a:extLst xmlns:a="http://schemas.openxmlformats.org/drawingml/2006/main">
              <a:ext uri="{FF2B5EF4-FFF2-40B4-BE49-F238E27FC236}">
                <a16:creationId xmlns:a16="http://schemas.microsoft.com/office/drawing/2014/main" id="{B4BB2D4E-6972-45A4-AB14-8488CAB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Loopback-only listener</a:t>
            </a:r>
          </a:p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Non-local requests rejected</a:t>
            </a:r>
          </a:p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No required cloud service</a:t>
            </a:r>
          </a:p>
        </p:txBody>
      </p:sp>
      <p:sp>
        <p:nvSpPr>
          <p:cNvPr id="7" name="security-number-2">
            <a:extLst xmlns:a="http://schemas.openxmlformats.org/drawingml/2006/main">
              <a:ext uri="{FF2B5EF4-FFF2-40B4-BE49-F238E27FC236}">
                <a16:creationId xmlns:a16="http://schemas.microsoft.com/office/drawing/2014/main" id="{F5C923FA-10E9-464E-834F-BCA9359A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73" name="security-rule-2"/>
          <p:cNvCxnSpPr/>
          <p:nvPr/>
        </p:nvCxnSpPr>
        <p:spPr>
          <a:xfrm xmlns:a="http://schemas.openxmlformats.org/drawingml/2006/main">
            <a:off x="4324350" y="26860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9" name="security-title-2">
            <a:extLst xmlns:a="http://schemas.openxmlformats.org/drawingml/2006/main">
              <a:ext uri="{FF2B5EF4-FFF2-40B4-BE49-F238E27FC236}">
                <a16:creationId xmlns:a16="http://schemas.microsoft.com/office/drawing/2014/main" id="{BB6494C3-13E4-4975-BD33-D4FDD0D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90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Identity &amp; consent</a:t>
            </a:r>
          </a:p>
        </p:txBody>
      </p:sp>
      <p:sp>
        <p:nvSpPr>
          <p:cNvPr id="10" name="security-body-2">
            <a:extLst xmlns:a="http://schemas.openxmlformats.org/drawingml/2006/main">
              <a:ext uri="{FF2B5EF4-FFF2-40B4-BE49-F238E27FC236}">
                <a16:creationId xmlns:a16="http://schemas.microsoft.com/office/drawing/2014/main" id="{D9FABE96-CAD2-4739-835D-BE8E462E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Bearer-token authentication</a:t>
            </a:r>
          </a:p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Start-listener permission prompt</a:t>
            </a:r>
          </a:p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Optional scoped tokens</a:t>
            </a:r>
          </a:p>
        </p:txBody>
      </p:sp>
      <p:sp>
        <p:nvSpPr>
          <p:cNvPr id="11" name="security-number-3">
            <a:extLst xmlns:a="http://schemas.openxmlformats.org/drawingml/2006/main">
              <a:ext uri="{FF2B5EF4-FFF2-40B4-BE49-F238E27FC236}">
                <a16:creationId xmlns:a16="http://schemas.microsoft.com/office/drawing/2014/main" id="{F9A9D342-10F9-49E4-8F14-64FC2282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77" name="security-rule-3"/>
          <p:cNvCxnSpPr/>
          <p:nvPr/>
        </p:nvCxnSpPr>
        <p:spPr>
          <a:xfrm xmlns:a="http://schemas.openxmlformats.org/drawingml/2006/main">
            <a:off x="8191500" y="26860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13" name="security-title-3">
            <a:extLst xmlns:a="http://schemas.openxmlformats.org/drawingml/2006/main">
              <a:ext uri="{FF2B5EF4-FFF2-40B4-BE49-F238E27FC236}">
                <a16:creationId xmlns:a16="http://schemas.microsoft.com/office/drawing/2014/main" id="{7AE355FA-FD9C-4E09-9779-B50F4972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Policy gates</a:t>
            </a:r>
          </a:p>
        </p:txBody>
      </p:sp>
      <p:sp>
        <p:nvSpPr>
          <p:cNvPr id="14" name="security-body-3">
            <a:extLst xmlns:a="http://schemas.openxmlformats.org/drawingml/2006/main">
              <a:ext uri="{FF2B5EF4-FFF2-40B4-BE49-F238E27FC236}">
                <a16:creationId xmlns:a16="http://schemas.microsoft.com/office/drawing/2014/main" id="{0B440FFE-24EA-4375-8941-7261864C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238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Server disabled by default</a:t>
            </a:r>
          </a:p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Safe mode enabled by default</a:t>
            </a:r>
          </a:p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Exec and Python disabled by default</a:t>
            </a:r>
          </a:p>
        </p:txBody>
      </p:sp>
      <p:sp>
        <p:nvSpPr>
          <p:cNvPr id="15" name="security-summary">
            <a:extLst xmlns:a="http://schemas.openxmlformats.org/drawingml/2006/main">
              <a:ext uri="{FF2B5EF4-FFF2-40B4-BE49-F238E27FC236}">
                <a16:creationId xmlns:a16="http://schemas.microsoft.com/office/drawing/2014/main" id="{3E58055A-C215-460A-A7C7-29803FF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Request-size limits and per-client rate limits protect the automation surface.</a:t>
            </a:r>
          </a:p>
        </p:txBody>
      </p:sp>
      <p:sp>
        <p:nvSpPr>
          <p:cNvPr id="16" name="slide-6-footer-label">
            <a:extLst xmlns:a="http://schemas.openxmlformats.org/drawingml/2006/main">
              <a:ext uri="{FF2B5EF4-FFF2-40B4-BE49-F238E27FC236}">
                <a16:creationId xmlns:a16="http://schemas.microsoft.com/office/drawing/2014/main" id="{CF0E3A50-3431-47C2-9B28-C22D359A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BLUEPRINT AUTOMATION TOOLKIT</a:t>
            </a:r>
          </a:p>
        </p:txBody>
      </p:sp>
      <p:sp>
        <p:nvSpPr>
          <p:cNvPr id="17" name="slide-6-footer-page">
            <a:extLst xmlns:a="http://schemas.openxmlformats.org/drawingml/2006/main">
              <a:ext uri="{FF2B5EF4-FFF2-40B4-BE49-F238E27FC236}">
                <a16:creationId xmlns:a16="http://schemas.microsoft.com/office/drawing/2014/main" id="{16A07205-F4BE-4339-B9D4-A9142977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1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4788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2DD9722-E375-4512-85C9-9F839E86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Built for Unreal Editor, without an external stack.</a:t>
            </a:r>
          </a:p>
        </p:txBody>
      </p:sp>
      <p:cxnSp>
        <p:nvCxnSpPr>
          <p:cNvPr id="20" name="slide-7-title-rule"/>
          <p:cNvCxnSpPr/>
          <p:nvPr/>
        </p:nvCxnSpPr>
        <p:spPr>
          <a:xfrm xmlns:a="http://schemas.openxmlformats.org/drawingml/2006/main">
            <a:off x="457200" y="1200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3" name="compatibility-subtitle">
            <a:extLst xmlns:a="http://schemas.openxmlformats.org/drawingml/2006/main">
              <a:ext uri="{FF2B5EF4-FFF2-40B4-BE49-F238E27FC236}">
                <a16:creationId xmlns:a16="http://schemas.microsoft.com/office/drawing/2014/main" id="{8C76B18F-5F2E-4043-813F-A7F6F2F2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9616F"/>
                </a:solidFill>
                <a:latin typeface="Arial"/>
                <a:ea typeface="Arial"/>
                <a:cs typeface="Arial"/>
              </a:rPr>
              <a:t>A focused editor plugin with explicit platform boundaries and only built-in Unreal dependencies.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2133600"/>
          <a:ext xmlns:a="http://schemas.openxmlformats.org/drawingml/2006/main" cx="11277600" cy="3752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3714750"/>
                <a:gridCol w="5086350"/>
              </a:tblGrid>
              <a:tr h="53612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8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SUPPORTED</a:t>
                      </a:r>
                    </a:p>
                  </a:txBody>
                  <a:tcPr marL="91440" marR="91440" marT="45720" marB="45720">
                    <a:solidFill>
                      <a:srgbClr val="080A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MEANS</a:t>
                      </a:r>
                    </a:p>
                  </a:txBody>
                  <a:tcPr marL="91440" marR="91440" marT="45720" marB="45720">
                    <a:solidFill>
                      <a:srgbClr val="080A0F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0A0F"/>
                          </a:solidFill>
                        </a:rPr>
                        <a:t>Unreal Engine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5.5 · 5.6 · 5.7 · 5.8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Validated source-only packages for each engine version</a:t>
                      </a:r>
                    </a:p>
                  </a:txBody>
                  <a:tcPr marL="91440" marR="91440" marT="45720" marB="45720"/>
                </a:tc>
              </a:tr>
              <a:tr h="53612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0A0F"/>
                          </a:solidFill>
                        </a:rPr>
                        <a:t>Development platform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Windows / Win64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PlatformAllowList limits the editor module to Win64</a:t>
                      </a:r>
                    </a:p>
                  </a:txBody>
                  <a:tcPr marL="91440" marR="91440" marT="45720" marB="45720"/>
                </a:tc>
              </a:tr>
              <a:tr h="53612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0A0F"/>
                          </a:solidFill>
                        </a:rPr>
                        <a:t>Module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EditorNoCommandlet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Loaded in Unreal Editor; excluded from packaged games</a:t>
                      </a:r>
                    </a:p>
                  </a:txBody>
                  <a:tcPr marL="91440" marR="91440" marT="45720" marB="45720"/>
                </a:tc>
              </a:tr>
              <a:tr h="53612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0A0F"/>
                          </a:solidFill>
                        </a:rPr>
                        <a:t>Built-in dependencies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PCG · GeometryProcessing · GeometryScripting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Enabled through the plugin descriptor</a:t>
                      </a:r>
                    </a:p>
                  </a:txBody>
                  <a:tcPr marL="91440" marR="91440" marT="45720" marB="45720"/>
                </a:tc>
              </a:tr>
              <a:tr h="53612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0A0F"/>
                          </a:solidFill>
                        </a:rPr>
                        <a:t>External stack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No external SDK, DLL, package manager, or cloud service</a:t>
                      </a:r>
                    </a:p>
                  </a:txBody>
                  <a:tcPr marL="91440" marR="91440" marT="45720" marB="45720"/>
                </a:tc>
              </a:tr>
              <a:tr h="53612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0A0F"/>
                          </a:solidFill>
                        </a:rPr>
                        <a:t>Distribution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Source-only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080A0F"/>
                          </a:solidFill>
                        </a:rPr>
                        <a:t>Unreal compiles the plugin for the selected engine version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slide-7-footer-label">
            <a:extLst xmlns:a="http://schemas.openxmlformats.org/drawingml/2006/main">
              <a:ext uri="{FF2B5EF4-FFF2-40B4-BE49-F238E27FC236}">
                <a16:creationId xmlns:a16="http://schemas.microsoft.com/office/drawing/2014/main" id="{CB0D48AA-5BC1-46E9-BF9A-CF5F8FC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16F"/>
                </a:solidFill>
                <a:latin typeface="Arial"/>
                <a:ea typeface="Arial"/>
                <a:cs typeface="Arial"/>
              </a:rPr>
              <a:t>BLUEPRINT AUTOMATION TOOLKIT</a:t>
            </a:r>
          </a:p>
        </p:txBody>
      </p:sp>
      <p:sp>
        <p:nvSpPr>
          <p:cNvPr id="6" name="slide-7-footer-page">
            <a:extLst xmlns:a="http://schemas.openxmlformats.org/drawingml/2006/main">
              <a:ext uri="{FF2B5EF4-FFF2-40B4-BE49-F238E27FC236}">
                <a16:creationId xmlns:a16="http://schemas.microsoft.com/office/drawing/2014/main" id="{0926C596-D97D-498F-9EC5-D1735FD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961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4830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4B09EDAE-E370-43E5-A507-6F8665BD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START WITH A SAFE, REVERSIBLE CHECK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CBFFF4E-B187-445C-A534-FEDDE2F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9525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Give your tools an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Unreal-native control plane.</a:t>
            </a:r>
          </a:p>
        </p:txBody>
      </p:sp>
      <p:sp>
        <p:nvSpPr>
          <p:cNvPr id="3" name="close-steps">
            <a:extLst xmlns:a="http://schemas.openxmlformats.org/drawingml/2006/main">
              <a:ext uri="{FF2B5EF4-FFF2-40B4-BE49-F238E27FC236}">
                <a16:creationId xmlns:a16="http://schemas.microsoft.com/office/drawing/2014/main" id="{7C773C0A-5524-48B8-9412-EF843C50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80A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0A0F"/>
                </a:solidFill>
                <a:latin typeface="Arial"/>
                <a:ea typeface="Arial"/>
                <a:cs typeface="Arial"/>
              </a:rPr>
              <a:t>1  Clone or install   ·   2  Enable BAT   ·   3  Start Server   ·   4  Call /engine/discover</a:t>
            </a:r>
          </a:p>
        </p:txBody>
      </p:sp>
      <p:cxnSp>
        <p:nvCxnSpPr>
          <p:cNvPr id="26" name="close-rule"/>
          <p:cNvCxnSpPr/>
          <p:nvPr/>
        </p:nvCxnSpPr>
        <p:spPr>
          <a:xfrm xmlns:a="http://schemas.openxmlformats.org/drawingml/2006/main">
            <a:off x="457200" y="50101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80A0F"/>
            </a:solidFill>
            <a:prstDash val="solid"/>
          </a:ln>
        </p:spPr>
      </p:cxnSp>
      <p:sp>
        <p:nvSpPr>
          <p:cNvPr id="5" name="close-links">
            <a:extLst xmlns:a="http://schemas.openxmlformats.org/drawingml/2006/main">
              <a:ext uri="{FF2B5EF4-FFF2-40B4-BE49-F238E27FC236}">
                <a16:creationId xmlns:a16="http://schemas.microsoft.com/office/drawing/2014/main" id="{49187A98-373E-4EE2-9F89-411484D4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16F"/>
                </a:solidFill>
                <a:latin typeface="Arial"/>
                <a:ea typeface="Arial"/>
                <a:cs typeface="Arial"/>
              </a:rPr>
              <a:t>github.com/tgameengine/blueprint-automation-toolkit</a:t>
            </a:r>
          </a:p>
          <a:p xmlns:a="http://schemas.openxmlformats.org/drawingml/2006/main">
            <a:pPr algn="l">
              <a:buNone/>
              <a:defRPr sz="1575">
                <a:solidFill>
                  <a:srgbClr val="59616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9616F"/>
                </a:solidFill>
                <a:latin typeface="Arial"/>
                <a:ea typeface="Arial"/>
                <a:cs typeface="Arial"/>
              </a:rPr>
              <a:t>github.com/tgameengine/blueprint-automation-toolkit/releases/tag/v1.0.0</a:t>
            </a:r>
          </a:p>
        </p:txBody>
      </p:sp>
      <p:sp>
        <p:nvSpPr>
          <p:cNvPr id="6" name="close-badge">
            <a:extLst xmlns:a="http://schemas.openxmlformats.org/drawingml/2006/main">
              <a:ext uri="{FF2B5EF4-FFF2-40B4-BE49-F238E27FC236}">
                <a16:creationId xmlns:a16="http://schemas.microsoft.com/office/drawing/2014/main" id="{E363A842-ED46-4685-B7BF-3BBED072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340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UE 5.5–5.8</a:t>
            </a:r>
          </a:p>
        </p:txBody>
      </p:sp>
    </p:spTree>
    <p:extLst>
      <p:ext uri="{BB962C8B-B14F-4D97-AF65-F5344CB8AC3E}">
        <p14:creationId xmlns:p14="http://schemas.microsoft.com/office/powerpoint/2010/main" val="873991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2026-07-28T12:52:51.5010000Z</dcterms:created>
  <dcterms:modified xsi:type="dcterms:W3CDTF">2026-07-28T12:52:51.5010000Z</dcterms:modified>
</coreProperties>
</file>